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12.png" ContentType="image/png"/>
  <Override PartName="/ppt/media/image7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6.png" ContentType="image/png"/>
  <Override PartName="/ppt/media/image11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0400" y="1784880"/>
            <a:ext cx="793512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46BD1E4-605F-4DAC-B8FE-441774B140B5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DEF60D-3976-4C9E-A727-6375DE79C7D6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6344D2F-2C57-4169-8848-020D4CDD306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F9B190F-BB8F-477D-9A8D-F6CDA9330A8A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A1F12B7-7793-4C72-A17D-0D3CFE9B7232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500400" y="1784880"/>
            <a:ext cx="793512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46A78DA-CCC7-4B36-93EA-D9E6B3F1DE4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0F4C27-453E-4F52-91AD-BB0F2E16DA9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959FC92-FA70-44D4-B588-CF220E474C1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DD1B468-EF80-409B-B531-86A7C65DCFC5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D16F164-14AE-4622-9FAF-1610C05418F0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EDCF10E-FB19-49D9-8BFF-FCE207931FDB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8F0971D-C5CF-4F3C-8716-3566E1446F3B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869D12-9A34-4CCE-A00E-31A17F66843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16E53E-8400-4EA9-8EA2-12AB8698712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B716B7-86C1-4FAF-871D-716D296410D4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1316BF-7FFC-430E-B0A7-032A9DDF9522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A1FD3F-8469-435F-9EB1-994AE070393A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500400" y="1784880"/>
            <a:ext cx="793512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6A263E-F723-49F9-9D01-C51D832A0AD4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361E89-64CA-49E6-8995-63D6D4FC003C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C44F76-B2E5-4183-B04E-0A341666D403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9EE2EC-E308-46D6-9650-6D40560AC300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494AD4-2144-4C59-B796-29EA64A579CA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CAEC03-A602-4C4F-AC88-A9CA641385A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785B4A-3468-4462-BCCA-661E8E93E54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43417A-97AE-4E23-9DB9-72178CE3EA0E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6D5C9D-D51E-4C70-9D77-C0AAFA76DAF4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joshvarty.com/learn-roslyn-now/" TargetMode="External"/><Relationship Id="rId2" Type="http://schemas.openxmlformats.org/officeDocument/2006/relationships/hyperlink" Target="https://habr.com/en/companies/pvs-studio/articles/579742/" TargetMode="External"/><Relationship Id="rId3" Type="http://schemas.openxmlformats.org/officeDocument/2006/relationships/hyperlink" Target="https://github.com/ironcev/awesome-roslyn?tab=readme-ov-file#open-source-projects" TargetMode="External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44;p1"/>
          <p:cNvSpPr/>
          <p:nvPr/>
        </p:nvSpPr>
        <p:spPr>
          <a:xfrm>
            <a:off x="629640" y="4138200"/>
            <a:ext cx="2920320" cy="4262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0400" y="1419480"/>
            <a:ext cx="8520120" cy="1828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chemeClr val="lt1"/>
                </a:solidFill>
                <a:latin typeface="Roboto"/>
                <a:ea typeface="Roboto"/>
              </a:rPr>
              <a:t>Анализ кода с Roslyn API: пишем свой анализатор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246;p1" descr=""/>
          <p:cNvPicPr/>
          <p:nvPr/>
        </p:nvPicPr>
        <p:blipFill>
          <a:blip r:embed="rId1"/>
          <a:stretch/>
        </p:blipFill>
        <p:spPr>
          <a:xfrm>
            <a:off x="7988400" y="273960"/>
            <a:ext cx="821880" cy="28440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247;p1"/>
          <p:cNvSpPr/>
          <p:nvPr/>
        </p:nvSpPr>
        <p:spPr>
          <a:xfrm>
            <a:off x="690120" y="4127400"/>
            <a:ext cx="368892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1900" spc="-1" strike="noStrike">
                <a:solidFill>
                  <a:schemeClr val="lt1"/>
                </a:solidFill>
                <a:latin typeface="Roboto Medium"/>
                <a:ea typeface="Roboto Medium"/>
              </a:rPr>
              <a:t>C# Developer. Advanced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Google Shape;248;p1" descr=""/>
          <p:cNvPicPr/>
          <p:nvPr/>
        </p:nvPicPr>
        <p:blipFill>
          <a:blip r:embed="rId2"/>
          <a:srcRect l="0" t="37150" r="0" b="61753"/>
          <a:stretch/>
        </p:blipFill>
        <p:spPr>
          <a:xfrm>
            <a:off x="0" y="3600360"/>
            <a:ext cx="9181440" cy="5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604520" y="95328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2100" spc="-1" strike="noStrike">
                <a:solidFill>
                  <a:schemeClr val="dk1"/>
                </a:solidFill>
                <a:latin typeface="Roboto"/>
                <a:ea typeface="Roboto"/>
              </a:rPr>
              <a:t>Проверить, идет ли запись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716400" y="1805040"/>
            <a:ext cx="7935120" cy="1415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chemeClr val="dk1"/>
                </a:solidFill>
                <a:latin typeface="Roboto"/>
                <a:ea typeface="Roboto"/>
              </a:rPr>
              <a:t>Меня хорошо видно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chemeClr val="dk1"/>
                </a:solidFill>
                <a:latin typeface="Roboto"/>
                <a:ea typeface="Roboto"/>
              </a:rPr>
              <a:t>&amp; слышно?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Google Shape;255;p2" descr=""/>
          <p:cNvPicPr/>
          <p:nvPr/>
        </p:nvPicPr>
        <p:blipFill>
          <a:blip r:embed="rId2"/>
          <a:stretch/>
        </p:blipFill>
        <p:spPr>
          <a:xfrm>
            <a:off x="1544040" y="3841200"/>
            <a:ext cx="545400" cy="545400"/>
          </a:xfrm>
          <a:prstGeom prst="rect">
            <a:avLst/>
          </a:prstGeom>
          <a:ln w="0">
            <a:noFill/>
          </a:ln>
        </p:spPr>
      </p:pic>
      <p:pic>
        <p:nvPicPr>
          <p:cNvPr id="124" name="Google Shape;256;p2" descr=""/>
          <p:cNvPicPr/>
          <p:nvPr/>
        </p:nvPicPr>
        <p:blipFill>
          <a:blip r:embed="rId3"/>
          <a:stretch/>
        </p:blipFill>
        <p:spPr>
          <a:xfrm>
            <a:off x="825480" y="3890880"/>
            <a:ext cx="536760" cy="536760"/>
          </a:xfrm>
          <a:prstGeom prst="rect">
            <a:avLst/>
          </a:prstGeom>
          <a:ln w="0">
            <a:noFill/>
          </a:ln>
        </p:spPr>
      </p:pic>
      <p:grpSp>
        <p:nvGrpSpPr>
          <p:cNvPr id="125" name="Google Shape;257;p2"/>
          <p:cNvGrpSpPr/>
          <p:nvPr/>
        </p:nvGrpSpPr>
        <p:grpSpPr>
          <a:xfrm>
            <a:off x="825480" y="1022400"/>
            <a:ext cx="778680" cy="365040"/>
            <a:chOff x="825480" y="1022400"/>
            <a:chExt cx="778680" cy="365040"/>
          </a:xfrm>
        </p:grpSpPr>
        <p:sp>
          <p:nvSpPr>
            <p:cNvPr id="126" name="Google Shape;258;p2"/>
            <p:cNvSpPr/>
            <p:nvPr/>
          </p:nvSpPr>
          <p:spPr>
            <a:xfrm>
              <a:off x="825480" y="1037520"/>
              <a:ext cx="714600" cy="317520"/>
            </a:xfrm>
            <a:prstGeom prst="roundRect">
              <a:avLst>
                <a:gd name="adj" fmla="val 16667"/>
              </a:avLst>
            </a:prstGeom>
            <a:solidFill>
              <a:srgbClr val="3f299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Google Shape;259;p2"/>
            <p:cNvSpPr/>
            <p:nvPr/>
          </p:nvSpPr>
          <p:spPr>
            <a:xfrm>
              <a:off x="987840" y="1022400"/>
              <a:ext cx="6163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200" spc="-1" strike="noStrike">
                  <a:solidFill>
                    <a:srgbClr val="ffffff"/>
                  </a:solidFill>
                  <a:latin typeface="Roboto Medium"/>
                  <a:ea typeface="Roboto Medium"/>
                </a:rPr>
                <a:t>REC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" name="Google Shape;260;p2"/>
            <p:cNvSpPr/>
            <p:nvPr/>
          </p:nvSpPr>
          <p:spPr>
            <a:xfrm>
              <a:off x="934560" y="1168200"/>
              <a:ext cx="85320" cy="7704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265;p3" descr=""/>
          <p:cNvPicPr/>
          <p:nvPr/>
        </p:nvPicPr>
        <p:blipFill>
          <a:blip r:embed="rId1"/>
          <a:stretch/>
        </p:blipFill>
        <p:spPr>
          <a:xfrm>
            <a:off x="552960" y="921600"/>
            <a:ext cx="2544480" cy="2544480"/>
          </a:xfrm>
          <a:prstGeom prst="rect">
            <a:avLst/>
          </a:prstGeom>
          <a:ln w="0">
            <a:noFill/>
          </a:ln>
        </p:spPr>
      </p:pic>
      <p:sp>
        <p:nvSpPr>
          <p:cNvPr id="130" name="Google Shape;266;p3"/>
          <p:cNvSpPr/>
          <p:nvPr/>
        </p:nvSpPr>
        <p:spPr>
          <a:xfrm>
            <a:off x="3913200" y="846360"/>
            <a:ext cx="370152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ru" sz="2300" spc="-1" strike="noStrike">
                <a:solidFill>
                  <a:srgbClr val="3f299a"/>
                </a:solidFill>
                <a:latin typeface="Roboto"/>
                <a:ea typeface="Roboto"/>
              </a:rPr>
              <a:t>Гладченко Николай Михайлович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267;p3"/>
          <p:cNvSpPr/>
          <p:nvPr/>
        </p:nvSpPr>
        <p:spPr>
          <a:xfrm>
            <a:off x="3754080" y="1928160"/>
            <a:ext cx="4914000" cy="20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04920">
              <a:lnSpc>
                <a:spcPct val="115000"/>
              </a:lnSpc>
              <a:buClr>
                <a:srgbClr val="3f299a"/>
              </a:buClr>
              <a:buFont typeface="Roboto"/>
              <a:buChar char="●"/>
            </a:pPr>
            <a:r>
              <a:rPr b="0" lang="ru" sz="1200" spc="-1" strike="noStrike">
                <a:solidFill>
                  <a:srgbClr val="050505"/>
                </a:solidFill>
                <a:latin typeface="Roboto"/>
                <a:ea typeface="Roboto"/>
              </a:rPr>
              <a:t>12 лет в разработке (коммерческая разработка + R&amp;D).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3f299a"/>
              </a:buClr>
              <a:buFont typeface="Roboto"/>
              <a:buChar char="●"/>
            </a:pPr>
            <a:r>
              <a:rPr b="0" lang="ru" sz="1200" spc="-1" strike="noStrike">
                <a:solidFill>
                  <a:srgbClr val="050505"/>
                </a:solidFill>
                <a:latin typeface="Roboto"/>
                <a:ea typeface="Roboto"/>
              </a:rPr>
              <a:t>Архитектура микросервисов для Mercedes-Benz Group, разработка SPA-фреймворков, интеграция LLM/ML моделей.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50505"/>
              </a:buClr>
              <a:buFont typeface="Roboto"/>
              <a:buChar char="●"/>
            </a:pPr>
            <a:r>
              <a:rPr b="0" lang="ru" sz="1200" spc="-1" strike="noStrike">
                <a:solidFill>
                  <a:srgbClr val="050505"/>
                </a:solidFill>
                <a:latin typeface="Roboto"/>
                <a:ea typeface="Roboto"/>
              </a:rPr>
              <a:t>Красный диплом СПбГЭТУ, диплом TU Ilmenau Ingenieurinformatik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3f299a"/>
              </a:buClr>
              <a:buFont typeface="Roboto"/>
              <a:buChar char="●"/>
            </a:pPr>
            <a:r>
              <a:rPr b="0" lang="ru" sz="1200" spc="-1" strike="noStrike">
                <a:solidFill>
                  <a:srgbClr val="050505"/>
                </a:solidFill>
                <a:latin typeface="Roboto"/>
                <a:ea typeface="Roboto"/>
              </a:rPr>
              <a:t>Опыт работы в мультиязычных командах (Rus/Eng/Deu).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268;p3"/>
          <p:cNvSpPr/>
          <p:nvPr/>
        </p:nvSpPr>
        <p:spPr>
          <a:xfrm>
            <a:off x="3913200" y="1516680"/>
            <a:ext cx="53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ru" sz="13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Старший разработчик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269;p3"/>
          <p:cNvSpPr/>
          <p:nvPr/>
        </p:nvSpPr>
        <p:spPr>
          <a:xfrm>
            <a:off x="4242240" y="3652920"/>
            <a:ext cx="29995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000000"/>
                </a:solidFill>
                <a:latin typeface="Roboto"/>
                <a:ea typeface="Roboto"/>
              </a:rPr>
              <a:t>@platonicum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Google Shape;270;p3" descr=""/>
          <p:cNvPicPr/>
          <p:nvPr/>
        </p:nvPicPr>
        <p:blipFill>
          <a:blip r:embed="rId2"/>
          <a:stretch/>
        </p:blipFill>
        <p:spPr>
          <a:xfrm>
            <a:off x="4073760" y="3747600"/>
            <a:ext cx="156240" cy="15012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271;p3" descr=""/>
          <p:cNvPicPr/>
          <p:nvPr/>
        </p:nvPicPr>
        <p:blipFill>
          <a:blip r:embed="rId3"/>
          <a:stretch/>
        </p:blipFill>
        <p:spPr>
          <a:xfrm>
            <a:off x="4061880" y="4078800"/>
            <a:ext cx="180000" cy="172800"/>
          </a:xfrm>
          <a:prstGeom prst="rect">
            <a:avLst/>
          </a:prstGeom>
          <a:ln w="0">
            <a:noFill/>
          </a:ln>
        </p:spPr>
      </p:pic>
      <p:sp>
        <p:nvSpPr>
          <p:cNvPr id="136" name="Google Shape;272;p3"/>
          <p:cNvSpPr/>
          <p:nvPr/>
        </p:nvSpPr>
        <p:spPr>
          <a:xfrm>
            <a:off x="4230360" y="3975840"/>
            <a:ext cx="19962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000000"/>
                </a:solidFill>
                <a:latin typeface="Roboto"/>
                <a:ea typeface="Roboto"/>
              </a:rPr>
              <a:t>glad4enkonm@gmail.com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11560" y="42912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200" spc="-1" strike="noStrike">
                <a:solidFill>
                  <a:schemeClr val="dk1"/>
                </a:solidFill>
                <a:latin typeface="Roboto"/>
                <a:ea typeface="Roboto"/>
              </a:rPr>
              <a:t>Правила вебинара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278;p4"/>
          <p:cNvSpPr/>
          <p:nvPr/>
        </p:nvSpPr>
        <p:spPr>
          <a:xfrm>
            <a:off x="1654560" y="1252080"/>
            <a:ext cx="2475000" cy="6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Активно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участвуем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279;p4"/>
          <p:cNvSpPr/>
          <p:nvPr/>
        </p:nvSpPr>
        <p:spPr>
          <a:xfrm>
            <a:off x="1654560" y="2926440"/>
            <a:ext cx="323064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Задаем вопрос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в чат или голосом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280;p4"/>
          <p:cNvSpPr/>
          <p:nvPr/>
        </p:nvSpPr>
        <p:spPr>
          <a:xfrm>
            <a:off x="1654560" y="3713400"/>
            <a:ext cx="323064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Вопросы вижу в чате,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могу ответить не сразу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281;p4"/>
          <p:cNvSpPr/>
          <p:nvPr/>
        </p:nvSpPr>
        <p:spPr>
          <a:xfrm>
            <a:off x="1654560" y="1991160"/>
            <a:ext cx="247500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Off-topic обсуждаем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в чате учебной группы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Google Shape;282;p4" descr=""/>
          <p:cNvPicPr/>
          <p:nvPr/>
        </p:nvPicPr>
        <p:blipFill>
          <a:blip r:embed="rId1"/>
          <a:stretch/>
        </p:blipFill>
        <p:spPr>
          <a:xfrm>
            <a:off x="957600" y="220536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43" name="Google Shape;283;p4" descr=""/>
          <p:cNvPicPr/>
          <p:nvPr/>
        </p:nvPicPr>
        <p:blipFill>
          <a:blip r:embed="rId2"/>
          <a:stretch/>
        </p:blipFill>
        <p:spPr>
          <a:xfrm>
            <a:off x="976680" y="307728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44" name="Google Shape;284;p4" descr=""/>
          <p:cNvPicPr/>
          <p:nvPr/>
        </p:nvPicPr>
        <p:blipFill>
          <a:blip r:embed="rId3"/>
          <a:stretch/>
        </p:blipFill>
        <p:spPr>
          <a:xfrm>
            <a:off x="976680" y="137880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45" name="Google Shape;285;p4" descr=""/>
          <p:cNvPicPr/>
          <p:nvPr/>
        </p:nvPicPr>
        <p:blipFill>
          <a:blip r:embed="rId4"/>
          <a:stretch/>
        </p:blipFill>
        <p:spPr>
          <a:xfrm>
            <a:off x="957600" y="3804480"/>
            <a:ext cx="432720" cy="4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00000" y="40464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Маршрут вебинара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91;p5"/>
          <p:cNvSpPr/>
          <p:nvPr/>
        </p:nvSpPr>
        <p:spPr>
          <a:xfrm>
            <a:off x="1137960" y="143316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Roslyn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92;p5"/>
          <p:cNvSpPr/>
          <p:nvPr/>
        </p:nvSpPr>
        <p:spPr>
          <a:xfrm>
            <a:off x="1137960" y="201348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Синтаксическое дерево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293;p5"/>
          <p:cNvSpPr/>
          <p:nvPr/>
        </p:nvSpPr>
        <p:spPr>
          <a:xfrm>
            <a:off x="1137960" y="259380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Семантическая модель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94;p5"/>
          <p:cNvSpPr/>
          <p:nvPr/>
        </p:nvSpPr>
        <p:spPr>
          <a:xfrm>
            <a:off x="1137960" y="318816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Создание анализатора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Google Shape;295;p5"/>
          <p:cNvSpPr/>
          <p:nvPr/>
        </p:nvSpPr>
        <p:spPr>
          <a:xfrm>
            <a:off x="1137960" y="378288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Рефлексия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2" name="Google Shape;296;p5"/>
          <p:cNvCxnSpPr>
            <a:stCxn id="147" idx="1"/>
            <a:endCxn id="148" idx="1"/>
          </p:cNvCxnSpPr>
          <p:nvPr/>
        </p:nvCxnSpPr>
        <p:spPr>
          <a:xfrm rot="10800000">
            <a:off x="1137960" y="1621080"/>
            <a:ext cx="360" cy="58068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153" name="Google Shape;297;p5"/>
          <p:cNvCxnSpPr>
            <a:stCxn id="148" idx="1"/>
            <a:endCxn id="149" idx="1"/>
          </p:cNvCxnSpPr>
          <p:nvPr/>
        </p:nvCxnSpPr>
        <p:spPr>
          <a:xfrm rot="10800000">
            <a:off x="1137960" y="2201400"/>
            <a:ext cx="360" cy="58068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154" name="Google Shape;298;p5"/>
          <p:cNvCxnSpPr>
            <a:stCxn id="149" idx="1"/>
            <a:endCxn id="150" idx="1"/>
          </p:cNvCxnSpPr>
          <p:nvPr/>
        </p:nvCxnSpPr>
        <p:spPr>
          <a:xfrm rot="10800000">
            <a:off x="1137960" y="2781360"/>
            <a:ext cx="360" cy="59472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155" name="Google Shape;299;p5"/>
          <p:cNvCxnSpPr>
            <a:stCxn id="150" idx="1"/>
            <a:endCxn id="151" idx="1"/>
          </p:cNvCxnSpPr>
          <p:nvPr/>
        </p:nvCxnSpPr>
        <p:spPr>
          <a:xfrm rot="10800000">
            <a:off x="1137960" y="3376080"/>
            <a:ext cx="360" cy="59508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Google Shape;304;p6"/>
          <p:cNvGraphicFramePr/>
          <p:nvPr/>
        </p:nvGraphicFramePr>
        <p:xfrm>
          <a:off x="620640" y="420480"/>
          <a:ext cx="8030880" cy="1149480"/>
        </p:xfrm>
        <a:graphic>
          <a:graphicData uri="http://schemas.openxmlformats.org/drawingml/2006/table">
            <a:tbl>
              <a:tblPr/>
              <a:tblGrid>
                <a:gridCol w="3827880"/>
                <a:gridCol w="4203000"/>
              </a:tblGrid>
              <a:tr h="10627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31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Цели вебинара</a:t>
                      </a:r>
                      <a:endParaRPr b="0" lang="en-US" sz="3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1"/>
                        </a:spcBef>
                        <a:tabLst>
                          <a:tab algn="l" pos="0"/>
                        </a:tabLst>
                      </a:pP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31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Смысл</a:t>
                      </a:r>
                      <a:endParaRPr b="0" lang="en-US" sz="3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spcBef>
                          <a:spcPts val="1001"/>
                        </a:spcBef>
                        <a:tabLst>
                          <a:tab algn="l" pos="0"/>
                        </a:tabLst>
                      </a:pP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7" name="Google Shape;305;p6"/>
          <p:cNvSpPr/>
          <p:nvPr/>
        </p:nvSpPr>
        <p:spPr>
          <a:xfrm>
            <a:off x="553320" y="2082600"/>
            <a:ext cx="338472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200" spc="-1" strike="noStrike">
                <a:solidFill>
                  <a:schemeClr val="dk1"/>
                </a:solidFill>
                <a:latin typeface="Roboto"/>
                <a:ea typeface="Roboto"/>
              </a:rPr>
              <a:t>1. </a:t>
            </a: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Использовать Roslyn API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306;p6"/>
          <p:cNvSpPr/>
          <p:nvPr/>
        </p:nvSpPr>
        <p:spPr>
          <a:xfrm>
            <a:off x="4694400" y="2082600"/>
            <a:ext cx="346896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Программный анализ синтаксиса и семантики C# кода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307;p6"/>
          <p:cNvSpPr/>
          <p:nvPr/>
        </p:nvSpPr>
        <p:spPr>
          <a:xfrm>
            <a:off x="553320" y="2826000"/>
            <a:ext cx="338472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200" spc="-1" strike="noStrike">
                <a:solidFill>
                  <a:schemeClr val="dk1"/>
                </a:solidFill>
                <a:latin typeface="Roboto"/>
                <a:ea typeface="Roboto"/>
              </a:rPr>
              <a:t>2. </a:t>
            </a: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Разрабатывать собственные анализаторы кода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308;p6"/>
          <p:cNvSpPr/>
          <p:nvPr/>
        </p:nvSpPr>
        <p:spPr>
          <a:xfrm>
            <a:off x="4694400" y="2799000"/>
            <a:ext cx="346896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Проверка корпоративных стандартов и поиск потенциальных ошибок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309;p6"/>
          <p:cNvSpPr/>
          <p:nvPr/>
        </p:nvSpPr>
        <p:spPr>
          <a:xfrm>
            <a:off x="553320" y="3569400"/>
            <a:ext cx="3384720" cy="8600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200" spc="-1" strike="noStrike">
                <a:solidFill>
                  <a:schemeClr val="dk1"/>
                </a:solidFill>
                <a:latin typeface="Roboto"/>
                <a:ea typeface="Roboto"/>
              </a:rPr>
              <a:t>3. Интегрировать анализаторы в процесс сборки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310;p6"/>
          <p:cNvSpPr/>
          <p:nvPr/>
        </p:nvSpPr>
        <p:spPr>
          <a:xfrm>
            <a:off x="4694400" y="3734280"/>
            <a:ext cx="346896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Автоматизация code review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3" name="Google Shape;311;p6"/>
          <p:cNvCxnSpPr>
            <a:stCxn id="157" idx="3"/>
            <a:endCxn id="158" idx="1"/>
          </p:cNvCxnSpPr>
          <p:nvPr/>
        </p:nvCxnSpPr>
        <p:spPr>
          <a:xfrm>
            <a:off x="3938040" y="2347560"/>
            <a:ext cx="756720" cy="360"/>
          </a:xfrm>
          <a:prstGeom prst="curvedConnector2">
            <a:avLst/>
          </a:prstGeom>
          <a:ln w="9525">
            <a:solidFill>
              <a:srgbClr val="3f299a"/>
            </a:solidFill>
            <a:prstDash val="lgDash"/>
            <a:round/>
            <a:tailEnd len="med" type="triangle" w="med"/>
          </a:ln>
        </p:spPr>
      </p:cxnSp>
      <p:cxnSp>
        <p:nvCxnSpPr>
          <p:cNvPr id="164" name="Google Shape;312;p6"/>
          <p:cNvCxnSpPr/>
          <p:nvPr/>
        </p:nvCxnSpPr>
        <p:spPr>
          <a:xfrm>
            <a:off x="3938040" y="3090600"/>
            <a:ext cx="756360" cy="720"/>
          </a:xfrm>
          <a:prstGeom prst="curvedConnector3">
            <a:avLst>
              <a:gd name="adj1" fmla="val 25000"/>
            </a:avLst>
          </a:prstGeom>
          <a:ln w="9525">
            <a:solidFill>
              <a:srgbClr val="3f299a"/>
            </a:solidFill>
            <a:prstDash val="lgDash"/>
            <a:round/>
            <a:tailEnd len="med" type="triangle" w="med"/>
          </a:ln>
        </p:spPr>
      </p:cxnSp>
      <p:cxnSp>
        <p:nvCxnSpPr>
          <p:cNvPr id="165" name="Google Shape;313;p6"/>
          <p:cNvCxnSpPr/>
          <p:nvPr/>
        </p:nvCxnSpPr>
        <p:spPr>
          <a:xfrm>
            <a:off x="3938040" y="3958560"/>
            <a:ext cx="756360" cy="1080"/>
          </a:xfrm>
          <a:prstGeom prst="curvedConnector3">
            <a:avLst>
              <a:gd name="adj1" fmla="val 25000"/>
            </a:avLst>
          </a:prstGeom>
          <a:ln w="9525">
            <a:solidFill>
              <a:srgbClr val="3f299a"/>
            </a:solidFill>
            <a:prstDash val="lgDash"/>
            <a:round/>
            <a:tailEnd len="med" type="triangle" w="med"/>
          </a:ln>
        </p:spPr>
      </p:cxnSp>
      <p:sp>
        <p:nvSpPr>
          <p:cNvPr id="166" name="Google Shape;314;p6"/>
          <p:cNvSpPr/>
          <p:nvPr/>
        </p:nvSpPr>
        <p:spPr>
          <a:xfrm>
            <a:off x="620640" y="912600"/>
            <a:ext cx="37854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" sz="1600" spc="-1" strike="noStrike">
                <a:solidFill>
                  <a:srgbClr val="3f299a"/>
                </a:solidFill>
                <a:latin typeface="Roboto"/>
                <a:ea typeface="Roboto"/>
              </a:rPr>
              <a:t>К концу занятия вы сможете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315;p6"/>
          <p:cNvSpPr/>
          <p:nvPr/>
        </p:nvSpPr>
        <p:spPr>
          <a:xfrm>
            <a:off x="4448520" y="912600"/>
            <a:ext cx="299952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" sz="1600" spc="-1" strike="noStrike">
                <a:solidFill>
                  <a:srgbClr val="3f299a"/>
                </a:solidFill>
                <a:latin typeface="Roboto"/>
                <a:ea typeface="Roboto"/>
              </a:rPr>
              <a:t>Для чего вам это уметь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22000" y="1710000"/>
            <a:ext cx="8520120" cy="1295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500" spc="-1" strike="noStrike">
                <a:solidFill>
                  <a:schemeClr val="lt1"/>
                </a:solidFill>
                <a:latin typeface="Roboto"/>
                <a:ea typeface="Roboto"/>
              </a:rPr>
              <a:t>Roslyn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Google Shape;321;p7" descr=""/>
          <p:cNvPicPr/>
          <p:nvPr/>
        </p:nvPicPr>
        <p:blipFill>
          <a:blip r:embed="rId1"/>
          <a:srcRect l="0" t="37150" r="0" b="61753"/>
          <a:stretch/>
        </p:blipFill>
        <p:spPr>
          <a:xfrm>
            <a:off x="0" y="3600360"/>
            <a:ext cx="9181440" cy="5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326;p8" descr=""/>
          <p:cNvPicPr/>
          <p:nvPr/>
        </p:nvPicPr>
        <p:blipFill>
          <a:blip r:embed="rId1"/>
          <a:stretch/>
        </p:blipFill>
        <p:spPr>
          <a:xfrm>
            <a:off x="503640" y="403200"/>
            <a:ext cx="3790440" cy="1390320"/>
          </a:xfrm>
          <a:prstGeom prst="rect">
            <a:avLst/>
          </a:prstGeom>
          <a:ln w="0">
            <a:noFill/>
          </a:ln>
        </p:spPr>
      </p:pic>
      <p:pic>
        <p:nvPicPr>
          <p:cNvPr id="171" name="Google Shape;327;p8" descr=""/>
          <p:cNvPicPr/>
          <p:nvPr/>
        </p:nvPicPr>
        <p:blipFill>
          <a:blip r:embed="rId2"/>
          <a:stretch/>
        </p:blipFill>
        <p:spPr>
          <a:xfrm>
            <a:off x="503640" y="2088360"/>
            <a:ext cx="6276600" cy="23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 txBox="1"/>
          <p:nvPr/>
        </p:nvSpPr>
        <p:spPr>
          <a:xfrm>
            <a:off x="457200" y="685800"/>
            <a:ext cx="8001000" cy="365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Мы обновили версию внешней библиотеки безопасности.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Старый метод CheckAccessOld(int userId) признан небезопасным и помечен как [Obsolete].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Вместо него обязательно нужно использовать CheckAccessNew(string userId, SecurityContext ctx).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Проблема в том, что старый метод вызывается более чем в 800 местах по всему решению из 50 проектов.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Вопрос: Как перевести весь проект на новое API за минимальное время, исключив человеческий фактор (опечатки, забытые вызовы)?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326;p 1" descr=""/>
          <p:cNvPicPr/>
          <p:nvPr/>
        </p:nvPicPr>
        <p:blipFill>
          <a:blip r:embed="rId1"/>
          <a:stretch/>
        </p:blipFill>
        <p:spPr>
          <a:xfrm>
            <a:off x="503640" y="403200"/>
            <a:ext cx="3790440" cy="1390320"/>
          </a:xfrm>
          <a:prstGeom prst="rect">
            <a:avLst/>
          </a:prstGeom>
          <a:ln w="0">
            <a:noFill/>
          </a:ln>
        </p:spPr>
      </p:pic>
      <p:pic>
        <p:nvPicPr>
          <p:cNvPr id="174" name="Google Shape;327;p 2" descr=""/>
          <p:cNvPicPr/>
          <p:nvPr/>
        </p:nvPicPr>
        <p:blipFill>
          <a:blip r:embed="rId2"/>
          <a:stretch/>
        </p:blipFill>
        <p:spPr>
          <a:xfrm>
            <a:off x="503640" y="2088360"/>
            <a:ext cx="6276600" cy="23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56200" y="1546200"/>
            <a:ext cx="7379280" cy="1295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500" spc="-1" strike="noStrike">
                <a:solidFill>
                  <a:schemeClr val="lt1"/>
                </a:solidFill>
                <a:latin typeface="Roboto"/>
                <a:ea typeface="Roboto"/>
              </a:rPr>
              <a:t>LIVE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Google Shape;333;p9" descr=""/>
          <p:cNvPicPr/>
          <p:nvPr/>
        </p:nvPicPr>
        <p:blipFill>
          <a:blip r:embed="rId1"/>
          <a:srcRect l="0" t="37150" r="0" b="61753"/>
          <a:stretch/>
        </p:blipFill>
        <p:spPr>
          <a:xfrm>
            <a:off x="0" y="3600360"/>
            <a:ext cx="9181440" cy="59400"/>
          </a:xfrm>
          <a:prstGeom prst="rect">
            <a:avLst/>
          </a:prstGeom>
          <a:ln w="0">
            <a:noFill/>
          </a:ln>
        </p:spPr>
      </p:pic>
      <p:pic>
        <p:nvPicPr>
          <p:cNvPr id="177" name="Google Shape;334;p9" descr=""/>
          <p:cNvPicPr/>
          <p:nvPr/>
        </p:nvPicPr>
        <p:blipFill>
          <a:blip r:embed="rId2"/>
          <a:stretch/>
        </p:blipFill>
        <p:spPr>
          <a:xfrm>
            <a:off x="8569080" y="217800"/>
            <a:ext cx="319320" cy="31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4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Зачем анализатор?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340;p10"/>
          <p:cNvSpPr/>
          <p:nvPr/>
        </p:nvSpPr>
        <p:spPr>
          <a:xfrm>
            <a:off x="612000" y="1269720"/>
            <a:ext cx="7173000" cy="16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Проверка корпоративных стандартов и поиск потенциальных ошибок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Сбор статистики по проекту автоматически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Проверка работ студентов/стажеров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5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5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4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.NET compiler platform aka Roslyn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346;p11"/>
          <p:cNvSpPr/>
          <p:nvPr/>
        </p:nvSpPr>
        <p:spPr>
          <a:xfrm>
            <a:off x="612000" y="1269720"/>
            <a:ext cx="7173000" cy="10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compiler in managed code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compiler-as-a-service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open source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347;p11" descr=""/>
          <p:cNvPicPr/>
          <p:nvPr/>
        </p:nvPicPr>
        <p:blipFill>
          <a:blip r:embed="rId1"/>
          <a:stretch/>
        </p:blipFill>
        <p:spPr>
          <a:xfrm>
            <a:off x="459360" y="2874240"/>
            <a:ext cx="2685600" cy="1487520"/>
          </a:xfrm>
          <a:prstGeom prst="rect">
            <a:avLst/>
          </a:prstGeom>
          <a:ln w="0">
            <a:noFill/>
          </a:ln>
        </p:spPr>
      </p:pic>
      <p:pic>
        <p:nvPicPr>
          <p:cNvPr id="183" name="Google Shape;348;p11" descr=""/>
          <p:cNvPicPr/>
          <p:nvPr/>
        </p:nvPicPr>
        <p:blipFill>
          <a:blip r:embed="rId2"/>
          <a:stretch/>
        </p:blipFill>
        <p:spPr>
          <a:xfrm>
            <a:off x="4033800" y="1386720"/>
            <a:ext cx="4676760" cy="301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4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Pipeline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Google Shape;354;p12" descr=""/>
          <p:cNvPicPr/>
          <p:nvPr/>
        </p:nvPicPr>
        <p:blipFill>
          <a:blip r:embed="rId1"/>
          <a:stretch/>
        </p:blipFill>
        <p:spPr>
          <a:xfrm>
            <a:off x="378360" y="1045080"/>
            <a:ext cx="3377520" cy="3731040"/>
          </a:xfrm>
          <a:prstGeom prst="rect">
            <a:avLst/>
          </a:prstGeom>
          <a:ln w="0">
            <a:noFill/>
          </a:ln>
        </p:spPr>
      </p:pic>
      <p:pic>
        <p:nvPicPr>
          <p:cNvPr id="186" name="Google Shape;355;p12" descr=""/>
          <p:cNvPicPr/>
          <p:nvPr/>
        </p:nvPicPr>
        <p:blipFill>
          <a:blip r:embed="rId2"/>
          <a:stretch/>
        </p:blipFill>
        <p:spPr>
          <a:xfrm>
            <a:off x="3998520" y="2130840"/>
            <a:ext cx="5067720" cy="160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4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Проектная модель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Google Shape;361;p13" descr=""/>
          <p:cNvPicPr/>
          <p:nvPr/>
        </p:nvPicPr>
        <p:blipFill>
          <a:blip r:embed="rId1"/>
          <a:stretch/>
        </p:blipFill>
        <p:spPr>
          <a:xfrm>
            <a:off x="638640" y="1267200"/>
            <a:ext cx="5809680" cy="347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4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Синтаксическое дерево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Google Shape;367;p14" descr=""/>
          <p:cNvPicPr/>
          <p:nvPr/>
        </p:nvPicPr>
        <p:blipFill>
          <a:blip r:embed="rId1"/>
          <a:stretch/>
        </p:blipFill>
        <p:spPr>
          <a:xfrm>
            <a:off x="361440" y="1150200"/>
            <a:ext cx="3514320" cy="3790440"/>
          </a:xfrm>
          <a:prstGeom prst="rect">
            <a:avLst/>
          </a:prstGeom>
          <a:ln w="0">
            <a:noFill/>
          </a:ln>
        </p:spPr>
      </p:pic>
      <p:sp>
        <p:nvSpPr>
          <p:cNvPr id="191" name="Google Shape;368;p14"/>
          <p:cNvSpPr/>
          <p:nvPr/>
        </p:nvSpPr>
        <p:spPr>
          <a:xfrm>
            <a:off x="4375440" y="1336680"/>
            <a:ext cx="37962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Точное представление кода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333333"/>
              </a:buClr>
              <a:buFont typeface="Roboto"/>
              <a:buChar char="●"/>
            </a:pPr>
            <a:r>
              <a:rPr b="0" lang="ru" sz="1300" spc="-1" strike="noStrike">
                <a:solidFill>
                  <a:srgbClr val="333333"/>
                </a:solidFill>
                <a:latin typeface="Roboto"/>
                <a:ea typeface="Roboto"/>
              </a:rPr>
              <a:t>Immutable неизменяемое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5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5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4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SyntaxNode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Google Shape;374;p15" descr=""/>
          <p:cNvPicPr/>
          <p:nvPr/>
        </p:nvPicPr>
        <p:blipFill>
          <a:blip r:embed="rId1"/>
          <a:stretch/>
        </p:blipFill>
        <p:spPr>
          <a:xfrm>
            <a:off x="327960" y="1195920"/>
            <a:ext cx="6849720" cy="384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4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Семантическая модель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Google Shape;380;p16" descr=""/>
          <p:cNvPicPr/>
          <p:nvPr/>
        </p:nvPicPr>
        <p:blipFill>
          <a:blip r:embed="rId1"/>
          <a:stretch/>
        </p:blipFill>
        <p:spPr>
          <a:xfrm>
            <a:off x="638640" y="1234080"/>
            <a:ext cx="5605920" cy="350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56200" y="1546200"/>
            <a:ext cx="7379280" cy="1295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500" spc="-1" strike="noStrike">
                <a:solidFill>
                  <a:schemeClr val="lt1"/>
                </a:solidFill>
                <a:latin typeface="Roboto"/>
                <a:ea typeface="Roboto"/>
              </a:rPr>
              <a:t>LIVE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Google Shape;386;p17" descr=""/>
          <p:cNvPicPr/>
          <p:nvPr/>
        </p:nvPicPr>
        <p:blipFill>
          <a:blip r:embed="rId1"/>
          <a:srcRect l="0" t="37150" r="0" b="61753"/>
          <a:stretch/>
        </p:blipFill>
        <p:spPr>
          <a:xfrm>
            <a:off x="0" y="3600360"/>
            <a:ext cx="9181440" cy="59400"/>
          </a:xfrm>
          <a:prstGeom prst="rect">
            <a:avLst/>
          </a:prstGeom>
          <a:ln w="0">
            <a:noFill/>
          </a:ln>
        </p:spPr>
      </p:pic>
      <p:pic>
        <p:nvPicPr>
          <p:cNvPr id="198" name="Google Shape;387;p17" descr=""/>
          <p:cNvPicPr/>
          <p:nvPr/>
        </p:nvPicPr>
        <p:blipFill>
          <a:blip r:embed="rId2"/>
          <a:stretch/>
        </p:blipFill>
        <p:spPr>
          <a:xfrm>
            <a:off x="8569080" y="217800"/>
            <a:ext cx="319320" cy="31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11920" y="1538640"/>
            <a:ext cx="7379280" cy="1310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600" spc="-1" strike="noStrike">
                <a:solidFill>
                  <a:schemeClr val="lt1"/>
                </a:solidFill>
                <a:latin typeface="Roboto"/>
                <a:ea typeface="Roboto"/>
              </a:rPr>
              <a:t>Вопросы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393;p18"/>
          <p:cNvSpPr/>
          <p:nvPr/>
        </p:nvSpPr>
        <p:spPr>
          <a:xfrm>
            <a:off x="1130760" y="2790360"/>
            <a:ext cx="1927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chemeClr val="lt1"/>
                </a:solidFill>
                <a:latin typeface="Roboto"/>
                <a:ea typeface="Roboto"/>
              </a:rPr>
              <a:t>если есть вопросы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Google Shape;394;p18"/>
          <p:cNvSpPr/>
          <p:nvPr/>
        </p:nvSpPr>
        <p:spPr>
          <a:xfrm>
            <a:off x="4851360" y="2790360"/>
            <a:ext cx="21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chemeClr val="lt1"/>
                </a:solidFill>
                <a:latin typeface="Roboto"/>
                <a:ea typeface="Roboto"/>
              </a:rPr>
              <a:t>если вопросов нет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2" name="Google Shape;395;p18" descr=""/>
          <p:cNvPicPr/>
          <p:nvPr/>
        </p:nvPicPr>
        <p:blipFill>
          <a:blip r:embed="rId1"/>
          <a:srcRect l="0" t="0" r="0" b="33894"/>
          <a:stretch/>
        </p:blipFill>
        <p:spPr>
          <a:xfrm>
            <a:off x="626400" y="2831400"/>
            <a:ext cx="504360" cy="333360"/>
          </a:xfrm>
          <a:prstGeom prst="rect">
            <a:avLst/>
          </a:prstGeom>
          <a:ln w="0">
            <a:noFill/>
          </a:ln>
        </p:spPr>
      </p:pic>
      <p:pic>
        <p:nvPicPr>
          <p:cNvPr id="203" name="Google Shape;396;p18" descr=""/>
          <p:cNvPicPr/>
          <p:nvPr/>
        </p:nvPicPr>
        <p:blipFill>
          <a:blip r:embed="rId2"/>
          <a:srcRect l="0" t="60255" r="0" b="15482"/>
          <a:stretch/>
        </p:blipFill>
        <p:spPr>
          <a:xfrm>
            <a:off x="4346640" y="2936880"/>
            <a:ext cx="504360" cy="122040"/>
          </a:xfrm>
          <a:prstGeom prst="rect">
            <a:avLst/>
          </a:prstGeom>
          <a:ln w="0">
            <a:noFill/>
          </a:ln>
        </p:spPr>
      </p:pic>
      <p:pic>
        <p:nvPicPr>
          <p:cNvPr id="204" name="Google Shape;397;p18" descr=""/>
          <p:cNvPicPr/>
          <p:nvPr/>
        </p:nvPicPr>
        <p:blipFill>
          <a:blip r:embed="rId3"/>
          <a:srcRect l="0" t="37150" r="0" b="61753"/>
          <a:stretch/>
        </p:blipFill>
        <p:spPr>
          <a:xfrm>
            <a:off x="0" y="3600360"/>
            <a:ext cx="9181440" cy="5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23520" y="3974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Список материалов для изучения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961920" y="1305000"/>
            <a:ext cx="774216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4920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b="0" lang="ru" sz="1600" spc="-1" strike="noStrike">
                <a:solidFill>
                  <a:schemeClr val="dk1"/>
                </a:solidFill>
                <a:latin typeface="Roboto"/>
                <a:ea typeface="Roboto"/>
              </a:rPr>
              <a:t>Alessandro Del Sole “Roslyn Succinctly”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b="0" lang="ru" sz="1600" spc="-1" strike="noStrike">
                <a:solidFill>
                  <a:schemeClr val="dk1"/>
                </a:solidFill>
                <a:latin typeface="Roboto"/>
                <a:ea typeface="Roboto"/>
              </a:rPr>
              <a:t>Manish Vasani “Roslyn Cookbook”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b="0" lang="ru" sz="1600" spc="-1" strike="noStrike" u="sng">
                <a:solidFill>
                  <a:schemeClr val="hlink"/>
                </a:solidFill>
                <a:uFillTx/>
                <a:latin typeface="Roboto"/>
                <a:ea typeface="Roboto"/>
                <a:hlinkClick r:id="rId1"/>
              </a:rPr>
              <a:t>Learn Roslyn Now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b="0" lang="ru" sz="1600" spc="-1" strike="noStrike" u="sng">
                <a:solidFill>
                  <a:schemeClr val="hlink"/>
                </a:solidFill>
                <a:uFillTx/>
                <a:latin typeface="Roboto"/>
                <a:ea typeface="Roboto"/>
                <a:hlinkClick r:id="rId2"/>
              </a:rPr>
              <a:t>Создание статического анализатора на основе Roslyn API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b="0" lang="ru" sz="16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3"/>
              </a:rPr>
              <a:t>Awesome Roslyn (подборка материалов)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20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Google Shape;404;p19" descr=""/>
          <p:cNvPicPr/>
          <p:nvPr/>
        </p:nvPicPr>
        <p:blipFill>
          <a:blip r:embed="rId4"/>
          <a:stretch/>
        </p:blipFill>
        <p:spPr>
          <a:xfrm>
            <a:off x="7444800" y="3760920"/>
            <a:ext cx="1499400" cy="115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920" y="1474920"/>
            <a:ext cx="8520120" cy="1981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500" spc="-1" strike="noStrike">
                <a:solidFill>
                  <a:schemeClr val="lt1"/>
                </a:solidFill>
                <a:latin typeface="Roboto"/>
                <a:ea typeface="Roboto"/>
              </a:rPr>
              <a:t>Подведём 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500" spc="-1" strike="noStrike">
                <a:solidFill>
                  <a:schemeClr val="lt1"/>
                </a:solidFill>
                <a:latin typeface="Roboto"/>
                <a:ea typeface="Roboto"/>
              </a:rPr>
              <a:t>итоги занятия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Google Shape;410;p20" descr=""/>
          <p:cNvPicPr/>
          <p:nvPr/>
        </p:nvPicPr>
        <p:blipFill>
          <a:blip r:embed="rId1"/>
          <a:srcRect l="0" t="37150" r="0" b="61753"/>
          <a:stretch/>
        </p:blipFill>
        <p:spPr>
          <a:xfrm>
            <a:off x="0" y="3600360"/>
            <a:ext cx="9181440" cy="5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415;p21"/>
          <p:cNvGraphicFramePr/>
          <p:nvPr/>
        </p:nvGraphicFramePr>
        <p:xfrm>
          <a:off x="620640" y="420480"/>
          <a:ext cx="8030880" cy="1149480"/>
        </p:xfrm>
        <a:graphic>
          <a:graphicData uri="http://schemas.openxmlformats.org/drawingml/2006/table">
            <a:tbl>
              <a:tblPr/>
              <a:tblGrid>
                <a:gridCol w="3827880"/>
                <a:gridCol w="4203000"/>
              </a:tblGrid>
              <a:tr h="10627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31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Цели вебинара</a:t>
                      </a:r>
                      <a:endParaRPr b="0" lang="en-US" sz="3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1"/>
                        </a:spcBef>
                        <a:tabLst>
                          <a:tab algn="l" pos="0"/>
                        </a:tabLst>
                      </a:pP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31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Смысл</a:t>
                      </a:r>
                      <a:endParaRPr b="0" lang="en-US" sz="3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spcBef>
                          <a:spcPts val="1001"/>
                        </a:spcBef>
                        <a:tabLst>
                          <a:tab algn="l" pos="0"/>
                        </a:tabLst>
                      </a:pP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1" name="Google Shape;416;p21"/>
          <p:cNvSpPr/>
          <p:nvPr/>
        </p:nvSpPr>
        <p:spPr>
          <a:xfrm>
            <a:off x="553320" y="2082600"/>
            <a:ext cx="338472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200" spc="-1" strike="noStrike">
                <a:solidFill>
                  <a:schemeClr val="dk1"/>
                </a:solidFill>
                <a:latin typeface="Roboto"/>
                <a:ea typeface="Roboto"/>
              </a:rPr>
              <a:t>1. </a:t>
            </a: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Использовать Roslyn API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417;p21"/>
          <p:cNvSpPr/>
          <p:nvPr/>
        </p:nvSpPr>
        <p:spPr>
          <a:xfrm>
            <a:off x="4694400" y="2082600"/>
            <a:ext cx="346896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Программный анализ синтаксиса и семантики C# кода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418;p21"/>
          <p:cNvSpPr/>
          <p:nvPr/>
        </p:nvSpPr>
        <p:spPr>
          <a:xfrm>
            <a:off x="553320" y="2826000"/>
            <a:ext cx="338472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200" spc="-1" strike="noStrike">
                <a:solidFill>
                  <a:schemeClr val="dk1"/>
                </a:solidFill>
                <a:latin typeface="Roboto"/>
                <a:ea typeface="Roboto"/>
              </a:rPr>
              <a:t>2. </a:t>
            </a: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Разрабатывать собственные анализаторы кода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Google Shape;419;p21"/>
          <p:cNvSpPr/>
          <p:nvPr/>
        </p:nvSpPr>
        <p:spPr>
          <a:xfrm>
            <a:off x="4694400" y="2799000"/>
            <a:ext cx="346896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Проверка корпоративных стандартов и поиск потенциальных ошибок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420;p21"/>
          <p:cNvSpPr/>
          <p:nvPr/>
        </p:nvSpPr>
        <p:spPr>
          <a:xfrm>
            <a:off x="553320" y="3569400"/>
            <a:ext cx="3384720" cy="8600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200" spc="-1" strike="noStrike">
                <a:solidFill>
                  <a:schemeClr val="dk1"/>
                </a:solidFill>
                <a:latin typeface="Roboto"/>
                <a:ea typeface="Roboto"/>
              </a:rPr>
              <a:t>3. Интегрировать анализаторы в процесс сборки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421;p21"/>
          <p:cNvSpPr/>
          <p:nvPr/>
        </p:nvSpPr>
        <p:spPr>
          <a:xfrm>
            <a:off x="4694400" y="3734280"/>
            <a:ext cx="3468960" cy="5299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chemeClr val="dk1"/>
                </a:solidFill>
                <a:latin typeface="Roboto"/>
                <a:ea typeface="Roboto"/>
              </a:rPr>
              <a:t>Автоматизация code review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7" name="Google Shape;422;p21"/>
          <p:cNvCxnSpPr>
            <a:stCxn id="211" idx="3"/>
            <a:endCxn id="212" idx="1"/>
          </p:cNvCxnSpPr>
          <p:nvPr/>
        </p:nvCxnSpPr>
        <p:spPr>
          <a:xfrm>
            <a:off x="3938040" y="2347560"/>
            <a:ext cx="756360" cy="720"/>
          </a:xfrm>
          <a:prstGeom prst="curvedConnector2">
            <a:avLst/>
          </a:prstGeom>
          <a:ln w="9525">
            <a:solidFill>
              <a:srgbClr val="3f299a"/>
            </a:solidFill>
            <a:prstDash val="lgDash"/>
            <a:round/>
            <a:tailEnd len="med" type="triangle" w="med"/>
          </a:ln>
        </p:spPr>
      </p:cxnSp>
      <p:cxnSp>
        <p:nvCxnSpPr>
          <p:cNvPr id="218" name="Google Shape;423;p21"/>
          <p:cNvCxnSpPr/>
          <p:nvPr/>
        </p:nvCxnSpPr>
        <p:spPr>
          <a:xfrm>
            <a:off x="3938040" y="3090600"/>
            <a:ext cx="756360" cy="720"/>
          </a:xfrm>
          <a:prstGeom prst="curvedConnector2">
            <a:avLst/>
          </a:prstGeom>
          <a:ln w="9525">
            <a:solidFill>
              <a:srgbClr val="3f299a"/>
            </a:solidFill>
            <a:prstDash val="lgDash"/>
            <a:round/>
            <a:tailEnd len="med" type="triangle" w="med"/>
          </a:ln>
        </p:spPr>
      </p:cxnSp>
      <p:cxnSp>
        <p:nvCxnSpPr>
          <p:cNvPr id="219" name="Google Shape;424;p21"/>
          <p:cNvCxnSpPr/>
          <p:nvPr/>
        </p:nvCxnSpPr>
        <p:spPr>
          <a:xfrm>
            <a:off x="3938040" y="3958560"/>
            <a:ext cx="756360" cy="1080"/>
          </a:xfrm>
          <a:prstGeom prst="curvedConnector2">
            <a:avLst/>
          </a:prstGeom>
          <a:ln w="9525">
            <a:solidFill>
              <a:srgbClr val="3f299a"/>
            </a:solidFill>
            <a:prstDash val="lgDash"/>
            <a:round/>
            <a:tailEnd len="med" type="triangle" w="med"/>
          </a:ln>
        </p:spPr>
      </p:cxnSp>
      <p:sp>
        <p:nvSpPr>
          <p:cNvPr id="220" name="Google Shape;425;p21"/>
          <p:cNvSpPr/>
          <p:nvPr/>
        </p:nvSpPr>
        <p:spPr>
          <a:xfrm>
            <a:off x="620640" y="912600"/>
            <a:ext cx="37854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" sz="1600" spc="-1" strike="noStrike">
                <a:solidFill>
                  <a:srgbClr val="3f299a"/>
                </a:solidFill>
                <a:latin typeface="Roboto"/>
                <a:ea typeface="Roboto"/>
              </a:rPr>
              <a:t>К концу занятия вы сможете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426;p21"/>
          <p:cNvSpPr/>
          <p:nvPr/>
        </p:nvSpPr>
        <p:spPr>
          <a:xfrm>
            <a:off x="4448520" y="912600"/>
            <a:ext cx="299952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" sz="1600" spc="-1" strike="noStrike">
                <a:solidFill>
                  <a:srgbClr val="3f299a"/>
                </a:solidFill>
                <a:latin typeface="Roboto"/>
                <a:ea typeface="Roboto"/>
              </a:rPr>
              <a:t>Для чего вам это уметь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56200" y="1206720"/>
            <a:ext cx="7379280" cy="2667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500" spc="-1" strike="noStrike">
                <a:solidFill>
                  <a:schemeClr val="lt1"/>
                </a:solidFill>
                <a:latin typeface="Roboto"/>
                <a:ea typeface="Roboto"/>
              </a:rPr>
              <a:t>Заполните, пожалуйста,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500" spc="-1" strike="noStrike">
                <a:solidFill>
                  <a:schemeClr val="lt1"/>
                </a:solidFill>
                <a:latin typeface="Roboto"/>
                <a:ea typeface="Roboto"/>
              </a:rPr>
              <a:t>опрос о занятии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Google Shape;432;p22" descr=""/>
          <p:cNvPicPr/>
          <p:nvPr/>
        </p:nvPicPr>
        <p:blipFill>
          <a:blip r:embed="rId1"/>
          <a:srcRect l="0" t="37150" r="0" b="61753"/>
          <a:stretch/>
        </p:blipFill>
        <p:spPr>
          <a:xfrm>
            <a:off x="0" y="3600360"/>
            <a:ext cx="9181440" cy="59400"/>
          </a:xfrm>
          <a:prstGeom prst="rect">
            <a:avLst/>
          </a:prstGeom>
          <a:ln w="0">
            <a:noFill/>
          </a:ln>
        </p:spPr>
      </p:pic>
      <p:sp>
        <p:nvSpPr>
          <p:cNvPr id="224" name="Google Shape;433;p22"/>
          <p:cNvSpPr/>
          <p:nvPr/>
        </p:nvSpPr>
        <p:spPr>
          <a:xfrm>
            <a:off x="556200" y="3802320"/>
            <a:ext cx="538740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2300" spc="-1" strike="noStrike">
                <a:solidFill>
                  <a:schemeClr val="lt1"/>
                </a:solidFill>
                <a:latin typeface="Roboto Medium"/>
                <a:ea typeface="Roboto Medium"/>
              </a:rPr>
              <a:t>Мы читаем все ваши сообщения 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2300" spc="-1" strike="noStrike">
                <a:solidFill>
                  <a:schemeClr val="lt1"/>
                </a:solidFill>
                <a:latin typeface="Roboto Medium"/>
                <a:ea typeface="Roboto Medium"/>
              </a:rPr>
              <a:t>и берем их в работу 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Google Shape;434;p22" descr=""/>
          <p:cNvPicPr/>
          <p:nvPr/>
        </p:nvPicPr>
        <p:blipFill>
          <a:blip r:embed="rId2"/>
          <a:stretch/>
        </p:blipFill>
        <p:spPr>
          <a:xfrm>
            <a:off x="3541680" y="4321800"/>
            <a:ext cx="240120" cy="240120"/>
          </a:xfrm>
          <a:prstGeom prst="rect">
            <a:avLst/>
          </a:prstGeom>
          <a:ln w="0">
            <a:noFill/>
          </a:ln>
        </p:spPr>
      </p:pic>
      <p:pic>
        <p:nvPicPr>
          <p:cNvPr id="226" name="Google Shape;435;p22" descr=""/>
          <p:cNvPicPr/>
          <p:nvPr/>
        </p:nvPicPr>
        <p:blipFill>
          <a:blip r:embed="rId3"/>
          <a:stretch/>
        </p:blipFill>
        <p:spPr>
          <a:xfrm>
            <a:off x="3850200" y="4300200"/>
            <a:ext cx="283320" cy="28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LibreOffice/7.5.2.2$Windows_X86_64 LibreOffice_project/53bb9681a964705cf672590721dbc85eb4d0c3a2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2026-07-23T19:48:34Z</dcterms:modified>
  <cp:revision>1</cp:revision>
  <dc:subject/>
  <dc:title/>
</cp:coreProperties>
</file>